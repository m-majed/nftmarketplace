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8346400" cy="37490400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7395" kern="1200">
        <a:solidFill>
          <a:schemeClr val="tx1"/>
        </a:solidFill>
        <a:latin typeface="Arial" charset="0"/>
        <a:ea typeface="+mn-ea"/>
        <a:cs typeface="+mn-cs"/>
      </a:defRPr>
    </a:lvl1pPr>
    <a:lvl2pPr marL="456927" algn="ctr" rtl="0" fontAlgn="base">
      <a:spcBef>
        <a:spcPct val="0"/>
      </a:spcBef>
      <a:spcAft>
        <a:spcPct val="0"/>
      </a:spcAft>
      <a:defRPr sz="7395" kern="1200">
        <a:solidFill>
          <a:schemeClr val="tx1"/>
        </a:solidFill>
        <a:latin typeface="Arial" charset="0"/>
        <a:ea typeface="+mn-ea"/>
        <a:cs typeface="+mn-cs"/>
      </a:defRPr>
    </a:lvl2pPr>
    <a:lvl3pPr marL="913854" algn="ctr" rtl="0" fontAlgn="base">
      <a:spcBef>
        <a:spcPct val="0"/>
      </a:spcBef>
      <a:spcAft>
        <a:spcPct val="0"/>
      </a:spcAft>
      <a:defRPr sz="7395" kern="1200">
        <a:solidFill>
          <a:schemeClr val="tx1"/>
        </a:solidFill>
        <a:latin typeface="Arial" charset="0"/>
        <a:ea typeface="+mn-ea"/>
        <a:cs typeface="+mn-cs"/>
      </a:defRPr>
    </a:lvl3pPr>
    <a:lvl4pPr marL="1370780" algn="ctr" rtl="0" fontAlgn="base">
      <a:spcBef>
        <a:spcPct val="0"/>
      </a:spcBef>
      <a:spcAft>
        <a:spcPct val="0"/>
      </a:spcAft>
      <a:defRPr sz="7395" kern="1200">
        <a:solidFill>
          <a:schemeClr val="tx1"/>
        </a:solidFill>
        <a:latin typeface="Arial" charset="0"/>
        <a:ea typeface="+mn-ea"/>
        <a:cs typeface="+mn-cs"/>
      </a:defRPr>
    </a:lvl4pPr>
    <a:lvl5pPr marL="1827707" algn="ctr" rtl="0" fontAlgn="base">
      <a:spcBef>
        <a:spcPct val="0"/>
      </a:spcBef>
      <a:spcAft>
        <a:spcPct val="0"/>
      </a:spcAft>
      <a:defRPr sz="7395" kern="1200">
        <a:solidFill>
          <a:schemeClr val="tx1"/>
        </a:solidFill>
        <a:latin typeface="Arial" charset="0"/>
        <a:ea typeface="+mn-ea"/>
        <a:cs typeface="+mn-cs"/>
      </a:defRPr>
    </a:lvl5pPr>
    <a:lvl6pPr marL="2284633" algn="l" defTabSz="913854" rtl="0" eaLnBrk="1" latinLnBrk="0" hangingPunct="1">
      <a:defRPr sz="7395" kern="1200">
        <a:solidFill>
          <a:schemeClr val="tx1"/>
        </a:solidFill>
        <a:latin typeface="Arial" charset="0"/>
        <a:ea typeface="+mn-ea"/>
        <a:cs typeface="+mn-cs"/>
      </a:defRPr>
    </a:lvl6pPr>
    <a:lvl7pPr marL="2741561" algn="l" defTabSz="913854" rtl="0" eaLnBrk="1" latinLnBrk="0" hangingPunct="1">
      <a:defRPr sz="7395" kern="1200">
        <a:solidFill>
          <a:schemeClr val="tx1"/>
        </a:solidFill>
        <a:latin typeface="Arial" charset="0"/>
        <a:ea typeface="+mn-ea"/>
        <a:cs typeface="+mn-cs"/>
      </a:defRPr>
    </a:lvl7pPr>
    <a:lvl8pPr marL="3198487" algn="l" defTabSz="913854" rtl="0" eaLnBrk="1" latinLnBrk="0" hangingPunct="1">
      <a:defRPr sz="7395" kern="1200">
        <a:solidFill>
          <a:schemeClr val="tx1"/>
        </a:solidFill>
        <a:latin typeface="Arial" charset="0"/>
        <a:ea typeface="+mn-ea"/>
        <a:cs typeface="+mn-cs"/>
      </a:defRPr>
    </a:lvl8pPr>
    <a:lvl9pPr marL="3655413" algn="l" defTabSz="913854" rtl="0" eaLnBrk="1" latinLnBrk="0" hangingPunct="1">
      <a:defRPr sz="7395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08" userDrawn="1">
          <p15:clr>
            <a:srgbClr val="A4A3A4"/>
          </p15:clr>
        </p15:guide>
        <p15:guide id="2" pos="8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0000"/>
    <a:srgbClr val="FF66CC"/>
    <a:srgbClr val="000099"/>
    <a:srgbClr val="1C57AE"/>
    <a:srgbClr val="326580"/>
    <a:srgbClr val="000080"/>
    <a:srgbClr val="326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4660"/>
  </p:normalViewPr>
  <p:slideViewPr>
    <p:cSldViewPr>
      <p:cViewPr>
        <p:scale>
          <a:sx n="33" d="100"/>
          <a:sy n="33" d="100"/>
        </p:scale>
        <p:origin x="1354" y="-4022"/>
      </p:cViewPr>
      <p:guideLst>
        <p:guide orient="horz" pos="11808"/>
        <p:guide pos="8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228600" cy="2286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5667" y="11645904"/>
            <a:ext cx="24095075" cy="8035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1325" y="21243928"/>
            <a:ext cx="19843750" cy="9582150"/>
          </a:xfrm>
        </p:spPr>
        <p:txBody>
          <a:bodyPr/>
          <a:lstStyle>
            <a:lvl1pPr marL="0" indent="0" algn="ctr">
              <a:buNone/>
              <a:defRPr/>
            </a:lvl1pPr>
            <a:lvl2pPr marL="457219" indent="0" algn="ctr">
              <a:buNone/>
              <a:defRPr/>
            </a:lvl2pPr>
            <a:lvl3pPr marL="914440" indent="0" algn="ctr">
              <a:buNone/>
              <a:defRPr/>
            </a:lvl3pPr>
            <a:lvl4pPr marL="1371659" indent="0" algn="ctr">
              <a:buNone/>
              <a:defRPr/>
            </a:lvl4pPr>
            <a:lvl5pPr marL="1828879" indent="0" algn="ctr">
              <a:buNone/>
              <a:defRPr/>
            </a:lvl5pPr>
            <a:lvl6pPr marL="2286099" indent="0" algn="ctr">
              <a:buNone/>
              <a:defRPr/>
            </a:lvl6pPr>
            <a:lvl7pPr marL="2743318" indent="0" algn="ctr">
              <a:buNone/>
              <a:defRPr/>
            </a:lvl7pPr>
            <a:lvl8pPr marL="3200538" indent="0" algn="ctr">
              <a:buNone/>
              <a:defRPr/>
            </a:lvl8pPr>
            <a:lvl9pPr marL="365775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A5F7C-75FF-4B2F-AE4F-3C76FF53A4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BA3CC-FC9D-44C8-A5FE-F986CBB611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966" y="24090314"/>
            <a:ext cx="24093487" cy="7446962"/>
          </a:xfrm>
        </p:spPr>
        <p:txBody>
          <a:bodyPr anchor="t"/>
          <a:lstStyle>
            <a:lvl1pPr algn="l">
              <a:defRPr sz="4002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966" y="15889290"/>
            <a:ext cx="24093487" cy="820102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19" indent="0">
              <a:buNone/>
              <a:defRPr sz="1800"/>
            </a:lvl2pPr>
            <a:lvl3pPr marL="914440" indent="0">
              <a:buNone/>
              <a:defRPr sz="1600"/>
            </a:lvl3pPr>
            <a:lvl4pPr marL="1371659" indent="0">
              <a:buNone/>
              <a:defRPr sz="1400"/>
            </a:lvl4pPr>
            <a:lvl5pPr marL="1828879" indent="0">
              <a:buNone/>
              <a:defRPr sz="1400"/>
            </a:lvl5pPr>
            <a:lvl6pPr marL="2286099" indent="0">
              <a:buNone/>
              <a:defRPr sz="1400"/>
            </a:lvl6pPr>
            <a:lvl7pPr marL="2743318" indent="0">
              <a:buNone/>
              <a:defRPr sz="1400"/>
            </a:lvl7pPr>
            <a:lvl8pPr marL="3200538" indent="0">
              <a:buNone/>
              <a:defRPr sz="1400"/>
            </a:lvl8pPr>
            <a:lvl9pPr marL="365775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ACB20-2107-44BE-B2CC-B14EAF0C5A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6052" y="8748713"/>
            <a:ext cx="12680950" cy="24741187"/>
          </a:xfrm>
        </p:spPr>
        <p:txBody>
          <a:bodyPr/>
          <a:lstStyle>
            <a:lvl1pPr>
              <a:defRPr sz="2802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49404" y="8748713"/>
            <a:ext cx="12680950" cy="24741187"/>
          </a:xfrm>
        </p:spPr>
        <p:txBody>
          <a:bodyPr/>
          <a:lstStyle>
            <a:lvl1pPr>
              <a:defRPr sz="2802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36779-5E9A-4021-987F-BF467783E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640" y="1501777"/>
            <a:ext cx="25511125" cy="624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7640" y="8391527"/>
            <a:ext cx="12523787" cy="3497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9" indent="0">
              <a:buNone/>
              <a:defRPr sz="2000" b="1"/>
            </a:lvl2pPr>
            <a:lvl3pPr marL="914440" indent="0">
              <a:buNone/>
              <a:defRPr sz="1800" b="1"/>
            </a:lvl3pPr>
            <a:lvl4pPr marL="1371659" indent="0">
              <a:buNone/>
              <a:defRPr sz="1600" b="1"/>
            </a:lvl4pPr>
            <a:lvl5pPr marL="1828879" indent="0">
              <a:buNone/>
              <a:defRPr sz="1600" b="1"/>
            </a:lvl5pPr>
            <a:lvl6pPr marL="2286099" indent="0">
              <a:buNone/>
              <a:defRPr sz="1600" b="1"/>
            </a:lvl6pPr>
            <a:lvl7pPr marL="2743318" indent="0">
              <a:buNone/>
              <a:defRPr sz="1600" b="1"/>
            </a:lvl7pPr>
            <a:lvl8pPr marL="3200538" indent="0">
              <a:buNone/>
              <a:defRPr sz="1600" b="1"/>
            </a:lvl8pPr>
            <a:lvl9pPr marL="365775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7640" y="11888791"/>
            <a:ext cx="12523787" cy="216011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400215" y="8391527"/>
            <a:ext cx="12528550" cy="3497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9" indent="0">
              <a:buNone/>
              <a:defRPr sz="2000" b="1"/>
            </a:lvl2pPr>
            <a:lvl3pPr marL="914440" indent="0">
              <a:buNone/>
              <a:defRPr sz="1800" b="1"/>
            </a:lvl3pPr>
            <a:lvl4pPr marL="1371659" indent="0">
              <a:buNone/>
              <a:defRPr sz="1600" b="1"/>
            </a:lvl4pPr>
            <a:lvl5pPr marL="1828879" indent="0">
              <a:buNone/>
              <a:defRPr sz="1600" b="1"/>
            </a:lvl5pPr>
            <a:lvl6pPr marL="2286099" indent="0">
              <a:buNone/>
              <a:defRPr sz="1600" b="1"/>
            </a:lvl6pPr>
            <a:lvl7pPr marL="2743318" indent="0">
              <a:buNone/>
              <a:defRPr sz="1600" b="1"/>
            </a:lvl7pPr>
            <a:lvl8pPr marL="3200538" indent="0">
              <a:buNone/>
              <a:defRPr sz="1600" b="1"/>
            </a:lvl8pPr>
            <a:lvl9pPr marL="365775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400215" y="11888791"/>
            <a:ext cx="12528550" cy="216011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956E3-F925-4B2F-B67C-0362A17B43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17E28-2953-45E5-BD57-5C994F1D70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80DBE-A355-4BA7-A4A1-D5B2B94064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638" y="1492254"/>
            <a:ext cx="9324975" cy="63531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2344" y="1492252"/>
            <a:ext cx="15846425" cy="31997650"/>
          </a:xfrm>
        </p:spPr>
        <p:txBody>
          <a:bodyPr/>
          <a:lstStyle>
            <a:lvl1pPr>
              <a:defRPr sz="3200"/>
            </a:lvl1pPr>
            <a:lvl2pPr>
              <a:defRPr sz="2802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638" y="7845427"/>
            <a:ext cx="9324975" cy="25644476"/>
          </a:xfrm>
        </p:spPr>
        <p:txBody>
          <a:bodyPr/>
          <a:lstStyle>
            <a:lvl1pPr marL="0" indent="0">
              <a:buNone/>
              <a:defRPr sz="1400"/>
            </a:lvl1pPr>
            <a:lvl2pPr marL="457219" indent="0">
              <a:buNone/>
              <a:defRPr sz="1200"/>
            </a:lvl2pPr>
            <a:lvl3pPr marL="914440" indent="0">
              <a:buNone/>
              <a:defRPr sz="1000"/>
            </a:lvl3pPr>
            <a:lvl4pPr marL="1371659" indent="0">
              <a:buNone/>
              <a:defRPr sz="900"/>
            </a:lvl4pPr>
            <a:lvl5pPr marL="1828879" indent="0">
              <a:buNone/>
              <a:defRPr sz="900"/>
            </a:lvl5pPr>
            <a:lvl6pPr marL="2286099" indent="0">
              <a:buNone/>
              <a:defRPr sz="900"/>
            </a:lvl6pPr>
            <a:lvl7pPr marL="2743318" indent="0">
              <a:buNone/>
              <a:defRPr sz="900"/>
            </a:lvl7pPr>
            <a:lvl8pPr marL="3200538" indent="0">
              <a:buNone/>
              <a:defRPr sz="900"/>
            </a:lvl8pPr>
            <a:lvl9pPr marL="365775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962F62-D126-4928-99D9-2AD7889DA3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254" y="26242965"/>
            <a:ext cx="17008475" cy="3098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56254" y="3349630"/>
            <a:ext cx="17008475" cy="22494875"/>
          </a:xfrm>
        </p:spPr>
        <p:txBody>
          <a:bodyPr/>
          <a:lstStyle>
            <a:lvl1pPr marL="0" indent="0">
              <a:buNone/>
              <a:defRPr sz="3200"/>
            </a:lvl1pPr>
            <a:lvl2pPr marL="457219" indent="0">
              <a:buNone/>
              <a:defRPr sz="2802"/>
            </a:lvl2pPr>
            <a:lvl3pPr marL="914440" indent="0">
              <a:buNone/>
              <a:defRPr sz="2400"/>
            </a:lvl3pPr>
            <a:lvl4pPr marL="1371659" indent="0">
              <a:buNone/>
              <a:defRPr sz="2000"/>
            </a:lvl4pPr>
            <a:lvl5pPr marL="1828879" indent="0">
              <a:buNone/>
              <a:defRPr sz="2000"/>
            </a:lvl5pPr>
            <a:lvl6pPr marL="2286099" indent="0">
              <a:buNone/>
              <a:defRPr sz="2000"/>
            </a:lvl6pPr>
            <a:lvl7pPr marL="2743318" indent="0">
              <a:buNone/>
              <a:defRPr sz="2000"/>
            </a:lvl7pPr>
            <a:lvl8pPr marL="3200538" indent="0">
              <a:buNone/>
              <a:defRPr sz="2000"/>
            </a:lvl8pPr>
            <a:lvl9pPr marL="3657757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254" y="29341764"/>
            <a:ext cx="17008475" cy="4398962"/>
          </a:xfrm>
        </p:spPr>
        <p:txBody>
          <a:bodyPr/>
          <a:lstStyle>
            <a:lvl1pPr marL="0" indent="0">
              <a:buNone/>
              <a:defRPr sz="1400"/>
            </a:lvl1pPr>
            <a:lvl2pPr marL="457219" indent="0">
              <a:buNone/>
              <a:defRPr sz="1200"/>
            </a:lvl2pPr>
            <a:lvl3pPr marL="914440" indent="0">
              <a:buNone/>
              <a:defRPr sz="1000"/>
            </a:lvl3pPr>
            <a:lvl4pPr marL="1371659" indent="0">
              <a:buNone/>
              <a:defRPr sz="900"/>
            </a:lvl4pPr>
            <a:lvl5pPr marL="1828879" indent="0">
              <a:buNone/>
              <a:defRPr sz="900"/>
            </a:lvl5pPr>
            <a:lvl6pPr marL="2286099" indent="0">
              <a:buNone/>
              <a:defRPr sz="900"/>
            </a:lvl6pPr>
            <a:lvl7pPr marL="2743318" indent="0">
              <a:buNone/>
              <a:defRPr sz="900"/>
            </a:lvl7pPr>
            <a:lvl8pPr marL="3200538" indent="0">
              <a:buNone/>
              <a:defRPr sz="900"/>
            </a:lvl8pPr>
            <a:lvl9pPr marL="365775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66C71-E6FB-43EF-A40A-1B5FF2B494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D580A-1A2C-454F-BAD1-832B69D084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551777" y="1501776"/>
            <a:ext cx="6378575" cy="31988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6054" y="1501776"/>
            <a:ext cx="18983325" cy="31988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78B6A-AB49-4B83-A3C2-4FE7F099E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16050" y="1501777"/>
            <a:ext cx="255143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16050" y="8748713"/>
            <a:ext cx="25514300" cy="2474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16050" y="34140775"/>
            <a:ext cx="66167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algn="l" defTabSz="3759362">
              <a:defRPr sz="58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683750" y="34140775"/>
            <a:ext cx="89789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defTabSz="3759362">
              <a:defRPr sz="58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313650" y="34140775"/>
            <a:ext cx="66167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algn="r" defTabSz="3759362">
              <a:defRPr sz="5800"/>
            </a:lvl1pPr>
          </a:lstStyle>
          <a:p>
            <a:fld id="{1631B78A-CB47-44DA-8976-E15FEA91D4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2pPr>
      <a:lvl3pPr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3pPr>
      <a:lvl4pPr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4pPr>
      <a:lvl5pPr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5pPr>
      <a:lvl6pPr marL="457219"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6pPr>
      <a:lvl7pPr marL="914440"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7pPr>
      <a:lvl8pPr marL="1371659"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8pPr>
      <a:lvl9pPr marL="1828879" algn="ctr" defTabSz="3759362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9pPr>
    </p:titleStyle>
    <p:bodyStyle>
      <a:lvl1pPr marL="1409761" indent="-1409761" algn="l" defTabSz="3759362" rtl="0" fontAlgn="base">
        <a:spcBef>
          <a:spcPct val="20000"/>
        </a:spcBef>
        <a:spcAft>
          <a:spcPct val="0"/>
        </a:spcAft>
        <a:buChar char="•"/>
        <a:defRPr sz="13202">
          <a:solidFill>
            <a:schemeClr val="tx1"/>
          </a:solidFill>
          <a:latin typeface="+mn-lt"/>
          <a:ea typeface="+mn-ea"/>
          <a:cs typeface="+mn-cs"/>
        </a:defRPr>
      </a:lvl1pPr>
      <a:lvl2pPr marL="3052895" indent="-1171625" algn="l" defTabSz="3759362" rtl="0" fontAlgn="base">
        <a:spcBef>
          <a:spcPct val="20000"/>
        </a:spcBef>
        <a:spcAft>
          <a:spcPct val="0"/>
        </a:spcAft>
        <a:buChar char="–"/>
        <a:defRPr sz="11502">
          <a:solidFill>
            <a:schemeClr val="tx1"/>
          </a:solidFill>
          <a:latin typeface="+mn-lt"/>
        </a:defRPr>
      </a:lvl2pPr>
      <a:lvl3pPr marL="4702379" indent="-943015" algn="l" defTabSz="3759362" rtl="0" fontAlgn="base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2059" indent="-939840" algn="l" defTabSz="3759362" rtl="0" fontAlgn="base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1740" indent="-938254" algn="l" defTabSz="3759362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18959" indent="-938254" algn="l" defTabSz="3759362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76179" indent="-938254" algn="l" defTabSz="3759362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3400" indent="-938254" algn="l" defTabSz="3759362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0619" indent="-938254" algn="l" defTabSz="3759362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9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0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9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9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9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8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8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57" algn="l" defTabSz="9144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Text Box 1009"/>
          <p:cNvSpPr txBox="1">
            <a:spLocks noChangeAspect="1" noChangeArrowheads="1"/>
          </p:cNvSpPr>
          <p:nvPr/>
        </p:nvSpPr>
        <p:spPr bwMode="auto">
          <a:xfrm>
            <a:off x="1151751" y="22146106"/>
            <a:ext cx="10560417" cy="1455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11" tIns="45705" rIns="91411" bIns="45705">
            <a:spAutoFit/>
          </a:bodyPr>
          <a:lstStyle/>
          <a:p>
            <a:pPr marL="320798" indent="-320798" algn="l" defTabSz="3323810">
              <a:spcBef>
                <a:spcPct val="50000"/>
              </a:spcBef>
            </a:pPr>
            <a:r>
              <a:rPr lang="en-US" sz="4400" b="1" dirty="0">
                <a:latin typeface="Times New Roman" pitchFamily="18" charset="0"/>
              </a:rPr>
              <a:t>2. System Design</a:t>
            </a:r>
            <a:endParaRPr lang="en-US" sz="4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User Requirements: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dirty="0">
                <a:latin typeface="+mn-lt"/>
              </a:rPr>
              <a:t>The system is designed to meet key functional and non-functional requirements for an NFT marketplace. Functionally, it supports wallet-based authentication, the complete token lifecycle (creation, listing, and purchase), and financial operations like fund withdrawals. Non-functional requirements prioritize security through </a:t>
            </a:r>
            <a:r>
              <a:rPr lang="en-US" sz="3200" dirty="0" err="1">
                <a:latin typeface="+mn-lt"/>
              </a:rPr>
              <a:t>re-entrancy</a:t>
            </a:r>
            <a:r>
              <a:rPr lang="en-US" sz="3200" dirty="0">
                <a:latin typeface="+mn-lt"/>
              </a:rPr>
              <a:t> guards and role-based access, and an emergency-stop mechanism in the contract.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marL="320798" indent="-320798" algn="l" defTabSz="3323810">
              <a:spcBef>
                <a:spcPct val="50000"/>
              </a:spcBef>
            </a:pPr>
            <a:r>
              <a:rPr lang="en-US" sz="3200" dirty="0">
                <a:latin typeface="+mn-lt"/>
              </a:rPr>
              <a:t>The platform uses a multi-layer </a:t>
            </a:r>
            <a:r>
              <a:rPr lang="en-US" sz="3200" dirty="0" err="1">
                <a:latin typeface="+mn-lt"/>
              </a:rPr>
              <a:t>dApp</a:t>
            </a:r>
            <a:r>
              <a:rPr lang="en-US" sz="3200" dirty="0">
                <a:latin typeface="+mn-lt"/>
              </a:rPr>
              <a:t> architecture that separates on-chain and off-chain logic for optimal performance and security.</a:t>
            </a:r>
            <a:endParaRPr lang="fa-IR" sz="3200" dirty="0">
              <a:latin typeface="+mn-lt"/>
            </a:endParaRPr>
          </a:p>
          <a:p>
            <a:pPr marL="457219" indent="-457219" algn="l" defTabSz="332381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On-Chain Layer (Smart Contract): The core of the system, this contract can be deployed on the Ethereum blockchain. It governs all critical operations, including asset ownership, market rules, and the secure handling of funds.</a:t>
            </a:r>
          </a:p>
          <a:p>
            <a:pPr marL="427728" indent="-427728" algn="l" defTabSz="332381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Off-Chain Layer (Backend &amp; Frontend): A Next.js backend manages user data, authentication, and communication with the IPFS storage system. The React-based frontend provides a dynamic user interface that allows users to interact with the backend and, via their wallets, execute transactions on the smart contract.</a:t>
            </a:r>
          </a:p>
        </p:txBody>
      </p:sp>
      <p:sp>
        <p:nvSpPr>
          <p:cNvPr id="4129" name="Line 1057"/>
          <p:cNvSpPr>
            <a:spLocks noChangeAspect="1" noChangeShapeType="1"/>
          </p:cNvSpPr>
          <p:nvPr/>
        </p:nvSpPr>
        <p:spPr bwMode="auto">
          <a:xfrm>
            <a:off x="1314452" y="5715001"/>
            <a:ext cx="256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 sz="8191"/>
          </a:p>
        </p:txBody>
      </p:sp>
      <p:sp>
        <p:nvSpPr>
          <p:cNvPr id="4130" name="Text Box 1058"/>
          <p:cNvSpPr txBox="1">
            <a:spLocks noChangeAspect="1" noChangeArrowheads="1"/>
          </p:cNvSpPr>
          <p:nvPr/>
        </p:nvSpPr>
        <p:spPr bwMode="auto">
          <a:xfrm>
            <a:off x="2286002" y="1082677"/>
            <a:ext cx="23545800" cy="42780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pPr rtl="1"/>
            <a:r>
              <a:rPr lang="fa-IR" sz="7200" dirty="0">
                <a:cs typeface="B Koodak" pitchFamily="2" charset="-78"/>
              </a:rPr>
              <a:t>پلتفرم خرید و فروش توکن‌های غیرقابل معاوضه(</a:t>
            </a:r>
            <a:r>
              <a:rPr lang="en-US" sz="7200" dirty="0">
                <a:cs typeface="B Koodak" pitchFamily="2" charset="-78"/>
              </a:rPr>
              <a:t>NFT</a:t>
            </a:r>
            <a:r>
              <a:rPr lang="fa-IR" sz="7200" dirty="0">
                <a:cs typeface="B Koodak" pitchFamily="2" charset="-78"/>
              </a:rPr>
              <a:t>) مبتنی بر بلاکچین</a:t>
            </a:r>
          </a:p>
          <a:p>
            <a:pPr rtl="1"/>
            <a:endParaRPr lang="fa-IR" sz="8000" dirty="0">
              <a:cs typeface="B Koodak" pitchFamily="2" charset="-78"/>
            </a:endParaRPr>
          </a:p>
          <a:p>
            <a:pPr rtl="1"/>
            <a:r>
              <a:rPr lang="fa-IR" sz="6000" dirty="0">
                <a:cs typeface="B Koodak" pitchFamily="2" charset="-78"/>
              </a:rPr>
              <a:t>نام و نام خانوادگی: محمدرضا ماجد</a:t>
            </a:r>
          </a:p>
          <a:p>
            <a:pPr rtl="1"/>
            <a:r>
              <a:rPr lang="fa-IR" sz="6000" dirty="0">
                <a:cs typeface="B Koodak" pitchFamily="2" charset="-78"/>
              </a:rPr>
              <a:t>استاد راهنما: دکتر فانیان</a:t>
            </a:r>
          </a:p>
        </p:txBody>
      </p:sp>
      <p:sp>
        <p:nvSpPr>
          <p:cNvPr id="4189" name="Rectangle 1117"/>
          <p:cNvSpPr>
            <a:spLocks noChangeAspect="1" noChangeArrowheads="1"/>
          </p:cNvSpPr>
          <p:nvPr/>
        </p:nvSpPr>
        <p:spPr bwMode="auto">
          <a:xfrm>
            <a:off x="228602" y="457204"/>
            <a:ext cx="27424063" cy="365648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8191"/>
          </a:p>
        </p:txBody>
      </p:sp>
      <p:sp>
        <p:nvSpPr>
          <p:cNvPr id="4190" name="Rectangle 1118"/>
          <p:cNvSpPr>
            <a:spLocks noChangeArrowheads="1"/>
          </p:cNvSpPr>
          <p:nvPr/>
        </p:nvSpPr>
        <p:spPr bwMode="auto">
          <a:xfrm>
            <a:off x="457206" y="685800"/>
            <a:ext cx="26966863" cy="361076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8191"/>
          </a:p>
        </p:txBody>
      </p:sp>
      <p:sp>
        <p:nvSpPr>
          <p:cNvPr id="4211" name="Rectangle 1139"/>
          <p:cNvSpPr>
            <a:spLocks noChangeArrowheads="1"/>
          </p:cNvSpPr>
          <p:nvPr/>
        </p:nvSpPr>
        <p:spPr bwMode="auto">
          <a:xfrm>
            <a:off x="923152" y="21917506"/>
            <a:ext cx="16563270" cy="14786402"/>
          </a:xfrm>
          <a:prstGeom prst="rect">
            <a:avLst/>
          </a:prstGeom>
          <a:noFill/>
          <a:ln w="76200">
            <a:solidFill>
              <a:srgbClr val="3265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362"/>
            <a:endParaRPr lang="en-US" sz="8191" b="1"/>
          </a:p>
        </p:txBody>
      </p:sp>
      <p:sp>
        <p:nvSpPr>
          <p:cNvPr id="4214" name="Rectangle 1142"/>
          <p:cNvSpPr>
            <a:spLocks noChangeArrowheads="1"/>
          </p:cNvSpPr>
          <p:nvPr/>
        </p:nvSpPr>
        <p:spPr bwMode="auto">
          <a:xfrm>
            <a:off x="914402" y="5943605"/>
            <a:ext cx="11430000" cy="15773400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8191"/>
          </a:p>
        </p:txBody>
      </p:sp>
      <p:sp>
        <p:nvSpPr>
          <p:cNvPr id="4219" name="Text Box 1147"/>
          <p:cNvSpPr txBox="1">
            <a:spLocks noChangeAspect="1" noChangeArrowheads="1"/>
          </p:cNvSpPr>
          <p:nvPr/>
        </p:nvSpPr>
        <p:spPr bwMode="auto">
          <a:xfrm>
            <a:off x="1143002" y="5943603"/>
            <a:ext cx="6400800" cy="76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pPr algn="l" defTabSz="3552977">
              <a:spcBef>
                <a:spcPct val="50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1. Introduction</a:t>
            </a:r>
          </a:p>
        </p:txBody>
      </p:sp>
      <p:sp>
        <p:nvSpPr>
          <p:cNvPr id="4230" name="Text Box 1158"/>
          <p:cNvSpPr txBox="1">
            <a:spLocks noChangeAspect="1" noChangeArrowheads="1"/>
          </p:cNvSpPr>
          <p:nvPr/>
        </p:nvSpPr>
        <p:spPr bwMode="auto">
          <a:xfrm>
            <a:off x="948104" y="6718667"/>
            <a:ext cx="11201400" cy="14865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Concept: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This project introduces a decentralized marketplace for Non-Fungible Tokens (NFTs), built upon blockchain technology. The core of the platform is a solid smart contract that autonomously manages all on-chain logic, including asset ownership, sale processes, and financial transactions, ensuring a transparent and immutable environment for trading digital assets.</a:t>
            </a:r>
            <a:endParaRPr lang="fa-IR" sz="3200" dirty="0"/>
          </a:p>
          <a:p>
            <a:pPr algn="l" defTabSz="3323810">
              <a:spcBef>
                <a:spcPct val="50000"/>
              </a:spcBef>
            </a:pPr>
            <a:endParaRPr lang="en-US" sz="3200" dirty="0"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endParaRPr lang="en-US" sz="3200" dirty="0"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endParaRPr lang="en-US" sz="3200" dirty="0"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Problem: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While the NFT market has grown significantly, many existing platforms present considerable challenges for users, such as complex user interfaces and high transaction fees. This creates a barrier for artists, creators, and collectors who are not familiar with blockchain technology, highlighting the need for a more accessible and simplified solution</a:t>
            </a:r>
            <a:r>
              <a:rPr lang="en-US" sz="3200" dirty="0">
                <a:latin typeface="Times New Roman" pitchFamily="18" charset="0"/>
              </a:rPr>
              <a:t>.</a:t>
            </a:r>
            <a:endParaRPr lang="en-US" sz="3200" b="1" dirty="0">
              <a:solidFill>
                <a:srgbClr val="000099"/>
              </a:solidFill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Project Goal: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The goal of this project is to develop a seamless and secure platform for trading NFTs that bridges the gap between blockchain's complexity and the user's need for simplicity. We aim to create a decentralized marketplace where the core logic is governed by a transparent smart contract, while providing a user-friendly interface that feels as intuitive as a standard web application.</a:t>
            </a:r>
            <a:endParaRPr lang="en-US" sz="3200" dirty="0">
              <a:latin typeface="Times New Roman" pitchFamily="18" charset="0"/>
            </a:endParaRPr>
          </a:p>
        </p:txBody>
      </p:sp>
      <p:sp>
        <p:nvSpPr>
          <p:cNvPr id="4248" name="Rectangle 1176"/>
          <p:cNvSpPr>
            <a:spLocks noChangeArrowheads="1"/>
          </p:cNvSpPr>
          <p:nvPr/>
        </p:nvSpPr>
        <p:spPr bwMode="auto">
          <a:xfrm>
            <a:off x="14080840" y="-676403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50" name="Rectangle 1178"/>
          <p:cNvSpPr>
            <a:spLocks noChangeArrowheads="1"/>
          </p:cNvSpPr>
          <p:nvPr/>
        </p:nvSpPr>
        <p:spPr bwMode="auto">
          <a:xfrm>
            <a:off x="14080840" y="17840197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53" name="Rectangle 1181"/>
          <p:cNvSpPr>
            <a:spLocks noChangeArrowheads="1"/>
          </p:cNvSpPr>
          <p:nvPr/>
        </p:nvSpPr>
        <p:spPr bwMode="auto">
          <a:xfrm>
            <a:off x="14080840" y="-676403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54" name="Rectangle 1182"/>
          <p:cNvSpPr>
            <a:spLocks noChangeArrowheads="1"/>
          </p:cNvSpPr>
          <p:nvPr/>
        </p:nvSpPr>
        <p:spPr bwMode="auto">
          <a:xfrm>
            <a:off x="0" y="454223"/>
            <a:ext cx="344966" cy="61555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200">
                <a:latin typeface="Times New Roman" pitchFamily="18" charset="0"/>
                <a:ea typeface="MS Mincho" pitchFamily="49" charset="-128"/>
                <a:cs typeface="Times New Roman" pitchFamily="18" charset="0"/>
              </a:rPr>
              <a:t> </a:t>
            </a:r>
            <a:r>
              <a:rPr lang="en-US" sz="3402">
                <a:ea typeface="MS Mincho" pitchFamily="49" charset="-128"/>
                <a:cs typeface="Times New Roman" pitchFamily="18" charset="0"/>
              </a:rPr>
              <a:t> </a:t>
            </a:r>
            <a:endParaRPr lang="en-US" sz="1800">
              <a:ea typeface="MS Mincho" pitchFamily="49" charset="-128"/>
              <a:cs typeface="Times New Roman" pitchFamily="18" charset="0"/>
            </a:endParaRPr>
          </a:p>
        </p:txBody>
      </p:sp>
      <p:graphicFrame>
        <p:nvGraphicFramePr>
          <p:cNvPr id="4255" name="Object 1183"/>
          <p:cNvGraphicFramePr>
            <a:graphicFrameLocks noChangeAspect="1"/>
          </p:cNvGraphicFramePr>
          <p:nvPr/>
        </p:nvGraphicFramePr>
        <p:xfrm>
          <a:off x="14116050" y="18637252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Picture 1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6050" y="18637252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" name="Rectangle 1188"/>
          <p:cNvSpPr>
            <a:spLocks noChangeArrowheads="1"/>
          </p:cNvSpPr>
          <p:nvPr/>
        </p:nvSpPr>
        <p:spPr bwMode="auto">
          <a:xfrm>
            <a:off x="14080840" y="-676403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68" name="Rectangle 1196"/>
          <p:cNvSpPr>
            <a:spLocks noChangeArrowheads="1"/>
          </p:cNvSpPr>
          <p:nvPr/>
        </p:nvSpPr>
        <p:spPr bwMode="auto">
          <a:xfrm>
            <a:off x="14080840" y="-676403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70" name="Rectangle 1198"/>
          <p:cNvSpPr>
            <a:spLocks noChangeArrowheads="1"/>
          </p:cNvSpPr>
          <p:nvPr/>
        </p:nvSpPr>
        <p:spPr bwMode="auto">
          <a:xfrm>
            <a:off x="14080840" y="17859247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sp>
        <p:nvSpPr>
          <p:cNvPr id="4273" name="Rectangle 1201"/>
          <p:cNvSpPr>
            <a:spLocks noChangeArrowheads="1"/>
          </p:cNvSpPr>
          <p:nvPr/>
        </p:nvSpPr>
        <p:spPr bwMode="auto">
          <a:xfrm>
            <a:off x="14080840" y="17711610"/>
            <a:ext cx="184731" cy="1352806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 sz="8191"/>
          </a:p>
        </p:txBody>
      </p:sp>
      <p:pic>
        <p:nvPicPr>
          <p:cNvPr id="4280" name="Picture 1208" descr="https://media.licdn.com/mpr/mpr/shrink_160_160/p/5/005/03a/33f/0bb765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079205" y="2324104"/>
            <a:ext cx="3124200" cy="3124202"/>
          </a:xfrm>
          <a:prstGeom prst="rect">
            <a:avLst/>
          </a:prstGeom>
          <a:noFill/>
        </p:spPr>
      </p:pic>
      <p:sp>
        <p:nvSpPr>
          <p:cNvPr id="3" name="Rectangle 1142">
            <a:extLst>
              <a:ext uri="{FF2B5EF4-FFF2-40B4-BE49-F238E27FC236}">
                <a16:creationId xmlns:a16="http://schemas.microsoft.com/office/drawing/2014/main" id="{81B1D68C-7524-5AB1-5B8A-092065873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204" y="5943605"/>
            <a:ext cx="14554200" cy="15148196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8191"/>
          </a:p>
        </p:txBody>
      </p:sp>
      <p:sp>
        <p:nvSpPr>
          <p:cNvPr id="4" name="Text Box 1147">
            <a:extLst>
              <a:ext uri="{FF2B5EF4-FFF2-40B4-BE49-F238E27FC236}">
                <a16:creationId xmlns:a16="http://schemas.microsoft.com/office/drawing/2014/main" id="{B1DCD6E1-D4B7-CEC6-17AF-A9B25B3FD0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877802" y="5943603"/>
            <a:ext cx="6400800" cy="76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pPr algn="l" defTabSz="3552977">
              <a:spcBef>
                <a:spcPct val="50000"/>
              </a:spcBef>
            </a:pPr>
            <a:r>
              <a:rPr lang="fa-IR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lang="en-US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Implementation</a:t>
            </a:r>
          </a:p>
        </p:txBody>
      </p:sp>
      <p:sp>
        <p:nvSpPr>
          <p:cNvPr id="5" name="Text Box 1158">
            <a:extLst>
              <a:ext uri="{FF2B5EF4-FFF2-40B4-BE49-F238E27FC236}">
                <a16:creationId xmlns:a16="http://schemas.microsoft.com/office/drawing/2014/main" id="{78A10FA3-D93F-A6E5-61F7-F77AFF6952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682904" y="6718667"/>
            <a:ext cx="14291896" cy="14373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11" tIns="45705" rIns="91411" bIns="45705">
            <a:spAutoFit/>
          </a:bodyPr>
          <a:lstStyle/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Smart Contract:</a:t>
            </a:r>
            <a:endParaRPr lang="fa-IR" sz="3200" b="1" dirty="0">
              <a:solidFill>
                <a:srgbClr val="000099"/>
              </a:solidFill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The core logic is encapsulated in a smart contract developed with Solidity and the Hardhat framework. To ensure security and standardization, it inherits from </a:t>
            </a:r>
            <a:r>
              <a:rPr lang="en-US" sz="3200" dirty="0" err="1"/>
              <a:t>OpenZeppelin's</a:t>
            </a:r>
            <a:r>
              <a:rPr lang="en-US" sz="3200" dirty="0"/>
              <a:t> libraries, implementing the ERC-721 standard for NFTs. Key security patterns like </a:t>
            </a:r>
            <a:r>
              <a:rPr lang="en-US" sz="3200" dirty="0" err="1"/>
              <a:t>ReentrancyGuard</a:t>
            </a:r>
            <a:r>
              <a:rPr lang="en-US" sz="3200" dirty="0"/>
              <a:t> and </a:t>
            </a:r>
            <a:r>
              <a:rPr lang="en-US" sz="3200" dirty="0" err="1"/>
              <a:t>Pausable</a:t>
            </a:r>
            <a:r>
              <a:rPr lang="en-US" sz="3200" dirty="0"/>
              <a:t> are integrated to protect user assets. The contract’s public functions (</a:t>
            </a:r>
            <a:r>
              <a:rPr lang="en-US" sz="3200" dirty="0" err="1"/>
              <a:t>createToken</a:t>
            </a:r>
            <a:r>
              <a:rPr lang="en-US" sz="3200" dirty="0"/>
              <a:t>, </a:t>
            </a:r>
            <a:r>
              <a:rPr lang="en-US" sz="3200" dirty="0" err="1"/>
              <a:t>createMarketSale</a:t>
            </a:r>
            <a:r>
              <a:rPr lang="en-US" sz="3200" dirty="0"/>
              <a:t>, withdraw) govern all on-chain market activities, ensuring transparent and autonomous operation.</a:t>
            </a:r>
            <a:endParaRPr lang="fa-IR" sz="3200" dirty="0"/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Backend &amp; Database:</a:t>
            </a:r>
            <a:endParaRPr lang="fa-IR" sz="3200" b="1" dirty="0">
              <a:solidFill>
                <a:srgbClr val="000099"/>
              </a:solidFill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The off-chain backend is built using Next.js API Routes, providing a serverless environment for managing application data. Prisma is utilized as a modern ORM for type-safe interaction with a</a:t>
            </a:r>
            <a:r>
              <a:rPr lang="fa-IR" sz="3200" dirty="0"/>
              <a:t> </a:t>
            </a:r>
            <a:r>
              <a:rPr lang="en-US" sz="3200" dirty="0"/>
              <a:t>database. It ensures data integrity through atomic transactions, which are crucial for synchronizing the off-chain database with on-chain events after a transaction is confirmed.</a:t>
            </a:r>
            <a:endParaRPr lang="fa-IR" sz="3200" dirty="0"/>
          </a:p>
          <a:p>
            <a:pPr algn="l" defTabSz="3323810">
              <a:spcBef>
                <a:spcPct val="50000"/>
              </a:spcBef>
            </a:pPr>
            <a:r>
              <a:rPr lang="en-US" sz="3200" b="1" dirty="0">
                <a:solidFill>
                  <a:srgbClr val="000099"/>
                </a:solidFill>
                <a:latin typeface="Times New Roman" pitchFamily="18" charset="0"/>
              </a:rPr>
              <a:t>Frontend &amp; Web3 Integration:</a:t>
            </a:r>
            <a:endParaRPr lang="fa-IR" sz="3200" b="1" dirty="0">
              <a:solidFill>
                <a:srgbClr val="000099"/>
              </a:solidFill>
              <a:latin typeface="Times New Roman" pitchFamily="18" charset="0"/>
            </a:endParaRP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The frontend, built with React and Next.js, serves as an intuitive gateway to the blockchain. The connection to the blockchain is handled by a robust Web3 stack:</a:t>
            </a:r>
            <a:endParaRPr lang="fa-IR" sz="3200" dirty="0"/>
          </a:p>
          <a:p>
            <a:pPr marL="457219" indent="-457219" algn="l" defTabSz="332381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3200" dirty="0" err="1"/>
              <a:t>Wagmi</a:t>
            </a:r>
            <a:r>
              <a:rPr lang="en-US" sz="3200" dirty="0"/>
              <a:t> &amp; </a:t>
            </a:r>
            <a:r>
              <a:rPr lang="en-US" sz="3200" dirty="0" err="1"/>
              <a:t>Viem</a:t>
            </a:r>
            <a:r>
              <a:rPr lang="en-US" sz="3200" dirty="0"/>
              <a:t>: These libraries provide powerful and efficient hooks for reading from and writing to the smart contract.</a:t>
            </a:r>
            <a:r>
              <a:rPr lang="fa-IR" sz="3200" dirty="0"/>
              <a:t> </a:t>
            </a:r>
          </a:p>
          <a:p>
            <a:pPr marL="457219" indent="-457219" algn="l" defTabSz="332381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3200" dirty="0" err="1"/>
              <a:t>RainbowKit</a:t>
            </a:r>
            <a:r>
              <a:rPr lang="en-US" sz="3200" dirty="0"/>
              <a:t>: Integrated to offer a seamless and user-friendly multi-wallet connection experience.</a:t>
            </a:r>
            <a:endParaRPr lang="fa-IR" sz="3200" dirty="0"/>
          </a:p>
          <a:p>
            <a:pPr marL="457219" indent="-457219" algn="l" defTabSz="332381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NextAuth.js: Implements secure, </a:t>
            </a:r>
            <a:r>
              <a:rPr lang="en-US" sz="3200" dirty="0" err="1"/>
              <a:t>passwordless</a:t>
            </a:r>
            <a:r>
              <a:rPr lang="en-US" sz="3200" dirty="0"/>
              <a:t> authentication using the SIWE protocol, allowing users to log in simply by signing a message with their wallet.</a:t>
            </a:r>
            <a:endParaRPr lang="en-US" sz="3200" dirty="0">
              <a:latin typeface="Times New Roman" pitchFamily="18" charset="0"/>
            </a:endParaRPr>
          </a:p>
        </p:txBody>
      </p:sp>
      <p:graphicFrame>
        <p:nvGraphicFramePr>
          <p:cNvPr id="6" name="Object 1183">
            <a:extLst>
              <a:ext uri="{FF2B5EF4-FFF2-40B4-BE49-F238E27FC236}">
                <a16:creationId xmlns:a16="http://schemas.microsoft.com/office/drawing/2014/main" id="{E29FEA05-025F-C747-5D40-C178E0124C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642678"/>
              </p:ext>
            </p:extLst>
          </p:nvPr>
        </p:nvGraphicFramePr>
        <p:xfrm>
          <a:off x="25850850" y="18637252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4255" name="Object 1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0850" y="18637252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A diagram of a blockchain&#10;&#10;AI-generated content may be incorrect.">
            <a:extLst>
              <a:ext uri="{FF2B5EF4-FFF2-40B4-BE49-F238E27FC236}">
                <a16:creationId xmlns:a16="http://schemas.microsoft.com/office/drawing/2014/main" id="{7E57EA58-60C7-64DB-A035-651218D72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6" y="25188352"/>
            <a:ext cx="5743149" cy="7706901"/>
          </a:xfrm>
          <a:prstGeom prst="rect">
            <a:avLst/>
          </a:prstGeom>
        </p:spPr>
      </p:pic>
      <p:sp>
        <p:nvSpPr>
          <p:cNvPr id="13" name="Rectangle 1142">
            <a:extLst>
              <a:ext uri="{FF2B5EF4-FFF2-40B4-BE49-F238E27FC236}">
                <a16:creationId xmlns:a16="http://schemas.microsoft.com/office/drawing/2014/main" id="{9B46E924-1F44-ADC1-2797-739399AB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5816" y="21320401"/>
            <a:ext cx="9498837" cy="15383511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8191"/>
          </a:p>
        </p:txBody>
      </p:sp>
      <p:sp>
        <p:nvSpPr>
          <p:cNvPr id="22" name="Text Box 1147">
            <a:extLst>
              <a:ext uri="{FF2B5EF4-FFF2-40B4-BE49-F238E27FC236}">
                <a16:creationId xmlns:a16="http://schemas.microsoft.com/office/drawing/2014/main" id="{D6C0F16C-86EF-EF06-5064-3FB419C731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905073" y="21462692"/>
            <a:ext cx="6400800" cy="76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pPr algn="l" defTabSz="3552977">
              <a:spcBef>
                <a:spcPct val="50000"/>
              </a:spcBef>
            </a:pPr>
            <a:r>
              <a:rPr lang="fa-IR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lang="en-US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Conclusions</a:t>
            </a:r>
          </a:p>
        </p:txBody>
      </p:sp>
      <p:sp>
        <p:nvSpPr>
          <p:cNvPr id="23" name="Text Box 1158">
            <a:extLst>
              <a:ext uri="{FF2B5EF4-FFF2-40B4-BE49-F238E27FC236}">
                <a16:creationId xmlns:a16="http://schemas.microsoft.com/office/drawing/2014/main" id="{E6861794-DF04-3199-1528-B6134693FDB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755423" y="22272764"/>
            <a:ext cx="9180066" cy="9203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11" tIns="45705" rIns="91411" bIns="45705">
            <a:spAutoFit/>
          </a:bodyPr>
          <a:lstStyle/>
          <a:p>
            <a:pPr algn="l" defTabSz="3323810">
              <a:spcBef>
                <a:spcPct val="50000"/>
              </a:spcBef>
            </a:pPr>
            <a:r>
              <a:rPr lang="en-US" sz="3200" dirty="0"/>
              <a:t>This project successfully achieved its primary goal of designing and implementing a full-stack, decentralized marketplace for NFTs. The final platform provides a user-friendly and secure solution that allows users to manage the entire lifecycle of their digital assets, from creation to sale, within an on-chain environment. </a:t>
            </a:r>
          </a:p>
          <a:p>
            <a:pPr algn="l" defTabSz="3323810">
              <a:spcBef>
                <a:spcPct val="50000"/>
              </a:spcBef>
            </a:pPr>
            <a:r>
              <a:rPr lang="en-US" sz="3200" dirty="0"/>
              <a:t>Key achievements include the implementation of a secure Solidity smart contract governing all market logic, an off-chain backend for data management, and a dynamic frontend that ensures a user-friendly experience. By integrating technologies like IPFS for decentralized storage and SIWE for wallet-based authentication, the project delivers a robust and practical example of a modern decentralized application that effectively bridges the gap between blockchain's complexity and user accessibility.</a:t>
            </a:r>
            <a:endParaRPr lang="fa-IR" sz="3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8D36B0-7A26-5086-BB02-CB943D1585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91" t="1769" b="12917"/>
          <a:stretch/>
        </p:blipFill>
        <p:spPr>
          <a:xfrm>
            <a:off x="20123249" y="31475251"/>
            <a:ext cx="6965856" cy="5086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7" name="Picture 3" descr="How to Create an NFT Marketplace: Tech, Features &amp; Costs Explained">
            <a:extLst>
              <a:ext uri="{FF2B5EF4-FFF2-40B4-BE49-F238E27FC236}">
                <a16:creationId xmlns:a16="http://schemas.microsoft.com/office/drawing/2014/main" id="{96B365E2-0E38-ECCC-B285-4611E4EA8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642" y="10564180"/>
            <a:ext cx="6156960" cy="34632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759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7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759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7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</TotalTime>
  <Words>768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Mincho</vt:lpstr>
      <vt:lpstr>Arial</vt:lpstr>
      <vt:lpstr>B Koodak</vt:lpstr>
      <vt:lpstr>Times New Roman</vt:lpstr>
      <vt:lpstr>Default Design</vt:lpstr>
      <vt:lpstr>Equation</vt:lpstr>
      <vt:lpstr>PowerPoint Presentation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Sample1</dc:title>
  <dc:creator>Tabesh</dc:creator>
  <cp:lastModifiedBy>ngh yu</cp:lastModifiedBy>
  <cp:revision>68</cp:revision>
  <dcterms:created xsi:type="dcterms:W3CDTF">2006-05-12T18:19:44Z</dcterms:created>
  <dcterms:modified xsi:type="dcterms:W3CDTF">2025-09-30T13:40:15Z</dcterms:modified>
</cp:coreProperties>
</file>